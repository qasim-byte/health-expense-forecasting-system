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048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A73E8">
              <a:alpha val="15000"/>
            </a:srgbClr>
          </a:solidFill>
          <a:ln w="12700">
            <a:solidFill>
              <a:srgbClr val="1A73E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🏥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Insurance Advisor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Insurance Cost Prediction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4572000" cy="2743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Glass Frosted Streamlit Application  ·  Random Forest ML  ·  OOP Architecture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5029200" cy="128016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822192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Qasim Ashfaq (SU92-BSAIM-S25-030)</a:t>
            </a:r>
            <a:endParaRPr lang="en-US" sz="12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Javed (SU92-BSAIM-S25-020)</a:t>
            </a:r>
            <a:endParaRPr lang="en-US" sz="12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Kaleem-Ullah (SU92-BSDSM-S25-013)</a:t>
            </a:r>
            <a:endParaRPr lang="en-US" sz="1200" i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0" y="3429000"/>
            <a:ext cx="3108960" cy="128016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85216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 Included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38176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/ Data Science / ML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6858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94360" y="1216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216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023360" cy="6858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94360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(What's New in this Model)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6858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594360" y="2953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953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OOP Design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4023360" cy="6858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94360" y="3822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822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Glass UI &amp; Visual Design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051560"/>
            <a:ext cx="4023360" cy="6858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983480" y="12161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1216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&amp; Model Performance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920240"/>
            <a:ext cx="4023360" cy="6858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4983480" y="20848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2084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Walkthrough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2788920"/>
            <a:ext cx="4023360" cy="6858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983480" y="2953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29535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Team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3657600"/>
            <a:ext cx="4023360" cy="6858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983480" y="3822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86400" y="38221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accurate medical cost prediction matters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14630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annual medical cost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misestimation per patient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560320" cy="14630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329184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 overpay or underpay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inaccurate models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560320" cy="14630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6126480" y="1097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1737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dimensions our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vs 3–5 traditional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74621"/>
            <a:ext cx="8412480" cy="21488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Traditional actuarial models rely on 3–5 variables (age, gender, smoking), missing the full picture.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mispriced premiums, unexpected patient expenses, and financial risk for insurers.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Patients have no accessible tool to estimate or plan their own healthcare costs.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There is a demand for intelligent, multi-dimensional, patient-specific prediction at scale.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the Innovation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refined, user-authenticated liquid glass experience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05156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161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4538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 / Login with SHA-256 hashed passwords, session state management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05156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8920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1161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Glass UI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14538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backdrop-filter CSS creating a frosted glass aesthetic on every card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4023360" cy="105156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29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🧪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2395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Tube Visualization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883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glass tube components mapping each metric to a color-coded fill level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4023360" cy="105156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8920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23957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History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268833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per-patient report store (JSON) with full input data and suggestions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4023360" cy="105156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029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560" y="3630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 Export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9227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downloadable HTML report with print CSS 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server-side PDF library needed)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3520440"/>
            <a:ext cx="4023360" cy="105156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8920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3630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Analysis with Recommendation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39227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prediction flow with consistency in performance and AI Generated Recommendations.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544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4658" y="722376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72237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classes, factory functions, and encapsulation across 4 modules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011680" cy="22860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011680" cy="365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data_cleaner.py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DataProcessor (ABC)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73152" cy="7315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73152" cy="7315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DataCleaner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73152" cy="7315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57200" y="27340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DataPreprocessor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825496"/>
            <a:ext cx="73152" cy="73152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2468880" y="1005840"/>
            <a:ext cx="2011680" cy="13716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2468880" y="1005840"/>
            <a:ext cx="201168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251460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trainer.py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06040" y="1444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BaseModel (ABC)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1536192"/>
            <a:ext cx="73152" cy="7315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2606040" y="18745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14600" y="1965960"/>
            <a:ext cx="73152" cy="7315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4617720" y="1005840"/>
            <a:ext cx="2011680" cy="9144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617720" y="1005840"/>
            <a:ext cx="2011680" cy="3657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66344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user_manager.py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1444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UserManager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536192"/>
            <a:ext cx="73152" cy="73152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6766560" y="1005840"/>
            <a:ext cx="2011680" cy="9144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6766560" y="1005840"/>
            <a:ext cx="201168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6812280" y="1051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903720" y="1444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MedicalCostPredictor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1536192"/>
            <a:ext cx="73152" cy="7315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320040" y="4114800"/>
            <a:ext cx="2011680" cy="822960"/>
          </a:xfrm>
          <a:prstGeom prst="rect">
            <a:avLst/>
          </a:prstGeom>
          <a:solidFill>
            <a:srgbClr val="122440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41148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base classes define interfaces (process, train, predict)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68880" y="4114800"/>
            <a:ext cx="2011680" cy="822960"/>
          </a:xfrm>
          <a:prstGeom prst="rect">
            <a:avLst/>
          </a:prstGeom>
          <a:solidFill>
            <a:srgbClr val="122440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25603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56032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DataPreprocessor extends DataCleaner extends DataProcessor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4114800"/>
            <a:ext cx="2011680" cy="822960"/>
          </a:xfrm>
          <a:prstGeom prst="rect">
            <a:avLst/>
          </a:prstGeom>
          <a:solidFill>
            <a:srgbClr val="122440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470916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0916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_data, _model attributes are private by convention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0" y="4114800"/>
            <a:ext cx="2011680" cy="822960"/>
          </a:xfrm>
          <a:prstGeom prst="rect">
            <a:avLst/>
          </a:prstGeom>
          <a:solidFill>
            <a:srgbClr val="122440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685800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functions return different concrete implementations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Glass Frosted UI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66369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transforms standard Streamlit into an immersive glass experience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120640" cy="3749040"/>
          </a:xfrm>
          <a:prstGeom prst="rect">
            <a:avLst/>
          </a:prstGeom>
          <a:solidFill>
            <a:srgbClr val="061020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backdrop-filter: blur(16px) saturate(180%)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4846320" cy="502920"/>
          </a:xfrm>
          <a:prstGeom prst="rect">
            <a:avLst/>
          </a:prstGeom>
          <a:solidFill>
            <a:srgbClr val="0D2137"/>
          </a:solidFill>
          <a:ln w="3810">
            <a:solidFill>
              <a:srgbClr val="00D4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AI Health Insurance Advisor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4846320" cy="1188720"/>
          </a:xfrm>
          <a:prstGeom prst="rect">
            <a:avLst/>
          </a:prstGeom>
          <a:solidFill>
            <a:srgbClr val="0D2137"/>
          </a:solidFill>
          <a:ln w="381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Annual Cost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$12,450.00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2907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your health profile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5800" y="3246120"/>
            <a:ext cx="320040" cy="685800"/>
          </a:xfrm>
          <a:prstGeom prst="roundRect">
            <a:avLst>
              <a:gd name="adj" fmla="val 14286"/>
            </a:avLst>
          </a:prstGeom>
          <a:solidFill>
            <a:srgbClr val="122440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685800" y="3726180"/>
            <a:ext cx="320040" cy="2057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1554480" y="3246120"/>
            <a:ext cx="320040" cy="685800"/>
          </a:xfrm>
          <a:prstGeom prst="roundRect">
            <a:avLst>
              <a:gd name="adj" fmla="val 14286"/>
            </a:avLst>
          </a:prstGeom>
          <a:solidFill>
            <a:srgbClr val="122440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1554480" y="3554730"/>
            <a:ext cx="320040" cy="37719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2423160" y="3246120"/>
            <a:ext cx="320040" cy="685800"/>
          </a:xfrm>
          <a:prstGeom prst="roundRect">
            <a:avLst>
              <a:gd name="adj" fmla="val 14286"/>
            </a:avLst>
          </a:prstGeom>
          <a:solidFill>
            <a:srgbClr val="122440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2423160" y="3417570"/>
            <a:ext cx="320040" cy="51435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291840" y="3246120"/>
            <a:ext cx="320040" cy="685800"/>
          </a:xfrm>
          <a:prstGeom prst="roundRect">
            <a:avLst>
              <a:gd name="adj" fmla="val 14286"/>
            </a:avLst>
          </a:prstGeom>
          <a:solidFill>
            <a:srgbClr val="122440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3291840" y="3623310"/>
            <a:ext cx="320040" cy="30861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160520" y="3246120"/>
            <a:ext cx="320040" cy="685800"/>
          </a:xfrm>
          <a:prstGeom prst="roundRect">
            <a:avLst>
              <a:gd name="adj" fmla="val 14286"/>
            </a:avLst>
          </a:prstGeom>
          <a:solidFill>
            <a:srgbClr val="122440"/>
          </a:solidFill>
          <a:ln w="381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4160520" y="3760470"/>
            <a:ext cx="320040" cy="17145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Metric Tubes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69280" y="1005840"/>
            <a:ext cx="3291840" cy="530352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5806440" y="10515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Header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1280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rgba(8,18,38,0.55) + blur(20px)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69280" y="1618488"/>
            <a:ext cx="3291840" cy="530352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5806440" y="16642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Box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06440" y="18928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rgba(255,255,255,0.07) + blur(16px)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69280" y="2231136"/>
            <a:ext cx="3291840" cy="530352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5806440" y="22768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06440" y="25054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rgba(255,255,255,0.05) + blur(15px)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0" y="2843784"/>
            <a:ext cx="3291840" cy="530352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5806440" y="28895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Boxes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06440" y="31181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rgba(0,0,0,0.40) — dark glass for contrast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69280" y="3456432"/>
            <a:ext cx="3291840" cy="530352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5806440" y="35021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Glow Amount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06440" y="3730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#00D4FF + text-shadow glow effect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669280" y="4069080"/>
            <a:ext cx="3291840" cy="530352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5806440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Stylesheet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06440" y="43434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print → white bg, no glass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Metrics — Liquid Glass Tubes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48056" y="826477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visual: animated glass cylinders map each metric to a risk color-coded fill level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502920" cy="1371600"/>
          </a:xfrm>
          <a:prstGeom prst="roundRect">
            <a:avLst>
              <a:gd name="adj" fmla="val 14545"/>
            </a:avLst>
          </a:prstGeom>
          <a:solidFill>
            <a:srgbClr val="122440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640080" y="2084832"/>
            <a:ext cx="502920" cy="5212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694944" y="1280160"/>
            <a:ext cx="109728" cy="6858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566928" y="2606040"/>
            <a:ext cx="649224" cy="73152"/>
          </a:xfrm>
          <a:prstGeom prst="rect">
            <a:avLst/>
          </a:prstGeom>
          <a:solidFill>
            <a:srgbClr val="7FA8C9">
              <a:alpha val="40000"/>
            </a:srgbClr>
          </a:solidFill>
          <a:ln w="12700">
            <a:solidFill>
              <a:srgbClr val="7FA8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yrs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10512" y="1234440"/>
            <a:ext cx="502920" cy="1371600"/>
          </a:xfrm>
          <a:prstGeom prst="roundRect">
            <a:avLst>
              <a:gd name="adj" fmla="val 14545"/>
            </a:avLst>
          </a:prstGeom>
          <a:solidFill>
            <a:srgbClr val="122440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1810512" y="1728216"/>
            <a:ext cx="502920" cy="87782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1865376" y="1280160"/>
            <a:ext cx="109728" cy="6858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1737360" y="2606040"/>
            <a:ext cx="649224" cy="73152"/>
          </a:xfrm>
          <a:prstGeom prst="rect">
            <a:avLst/>
          </a:prstGeom>
          <a:solidFill>
            <a:srgbClr val="7FA8C9">
              <a:alpha val="40000"/>
            </a:srgbClr>
          </a:solidFill>
          <a:ln w="12700">
            <a:solidFill>
              <a:srgbClr val="7FA8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1673352" y="2734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73352" y="2971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80944" y="1234440"/>
            <a:ext cx="502920" cy="1371600"/>
          </a:xfrm>
          <a:prstGeom prst="roundRect">
            <a:avLst>
              <a:gd name="adj" fmla="val 14545"/>
            </a:avLst>
          </a:prstGeom>
          <a:solidFill>
            <a:srgbClr val="122440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2980944" y="1645920"/>
            <a:ext cx="502920" cy="960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3035808" y="1280160"/>
            <a:ext cx="109728" cy="6858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2907792" y="2606040"/>
            <a:ext cx="649224" cy="73152"/>
          </a:xfrm>
          <a:prstGeom prst="rect">
            <a:avLst/>
          </a:prstGeom>
          <a:solidFill>
            <a:srgbClr val="7FA8C9">
              <a:alpha val="40000"/>
            </a:srgbClr>
          </a:solidFill>
          <a:ln w="12700">
            <a:solidFill>
              <a:srgbClr val="7FA8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2843784" y="2734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43784" y="2971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51376" y="1234440"/>
            <a:ext cx="502920" cy="1371600"/>
          </a:xfrm>
          <a:prstGeom prst="roundRect">
            <a:avLst>
              <a:gd name="adj" fmla="val 14545"/>
            </a:avLst>
          </a:prstGeom>
          <a:solidFill>
            <a:srgbClr val="122440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151376" y="1851660"/>
            <a:ext cx="502920" cy="7543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206240" y="1280160"/>
            <a:ext cx="109728" cy="6858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4078224" y="2606040"/>
            <a:ext cx="649224" cy="73152"/>
          </a:xfrm>
          <a:prstGeom prst="rect">
            <a:avLst/>
          </a:prstGeom>
          <a:solidFill>
            <a:srgbClr val="7FA8C9">
              <a:alpha val="40000"/>
            </a:srgbClr>
          </a:solidFill>
          <a:ln w="12700">
            <a:solidFill>
              <a:srgbClr val="7FA8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014216" y="2734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14216" y="2971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 hrs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321808" y="1234440"/>
            <a:ext cx="502920" cy="1371600"/>
          </a:xfrm>
          <a:prstGeom prst="roundRect">
            <a:avLst>
              <a:gd name="adj" fmla="val 14545"/>
            </a:avLst>
          </a:prstGeom>
          <a:solidFill>
            <a:srgbClr val="122440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Shape 28"/>
          <p:cNvSpPr/>
          <p:nvPr/>
        </p:nvSpPr>
        <p:spPr>
          <a:xfrm>
            <a:off x="5321808" y="2084832"/>
            <a:ext cx="502920" cy="5212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5376672" y="1280160"/>
            <a:ext cx="109728" cy="6858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5248656" y="2606040"/>
            <a:ext cx="649224" cy="73152"/>
          </a:xfrm>
          <a:prstGeom prst="rect">
            <a:avLst/>
          </a:prstGeom>
          <a:solidFill>
            <a:srgbClr val="7FA8C9">
              <a:alpha val="40000"/>
            </a:srgbClr>
          </a:solidFill>
          <a:ln w="12700">
            <a:solidFill>
              <a:srgbClr val="7FA8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5184648" y="2734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84648" y="2971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6,200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92240" y="1234440"/>
            <a:ext cx="502920" cy="1371600"/>
          </a:xfrm>
          <a:prstGeom prst="roundRect">
            <a:avLst>
              <a:gd name="adj" fmla="val 14545"/>
            </a:avLst>
          </a:prstGeom>
          <a:solidFill>
            <a:srgbClr val="122440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492240" y="2468880"/>
            <a:ext cx="502920" cy="137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Shape 35"/>
          <p:cNvSpPr/>
          <p:nvPr/>
        </p:nvSpPr>
        <p:spPr>
          <a:xfrm>
            <a:off x="6547104" y="1280160"/>
            <a:ext cx="109728" cy="6858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6419088" y="2606040"/>
            <a:ext cx="649224" cy="73152"/>
          </a:xfrm>
          <a:prstGeom prst="rect">
            <a:avLst/>
          </a:prstGeom>
          <a:solidFill>
            <a:srgbClr val="7FA8C9">
              <a:alpha val="40000"/>
            </a:srgbClr>
          </a:solidFill>
          <a:ln w="12700">
            <a:solidFill>
              <a:srgbClr val="7FA8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6355080" y="2734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55080" y="2971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662672" y="1234440"/>
            <a:ext cx="502920" cy="1371600"/>
          </a:xfrm>
          <a:prstGeom prst="roundRect">
            <a:avLst>
              <a:gd name="adj" fmla="val 14545"/>
            </a:avLst>
          </a:prstGeom>
          <a:solidFill>
            <a:srgbClr val="122440"/>
          </a:solidFill>
          <a:ln w="635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Shape 40"/>
          <p:cNvSpPr/>
          <p:nvPr/>
        </p:nvSpPr>
        <p:spPr>
          <a:xfrm>
            <a:off x="7662672" y="2263140"/>
            <a:ext cx="502920" cy="3429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Shape 41"/>
          <p:cNvSpPr/>
          <p:nvPr/>
        </p:nvSpPr>
        <p:spPr>
          <a:xfrm>
            <a:off x="7717536" y="1280160"/>
            <a:ext cx="109728" cy="6858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7589520" y="2606040"/>
            <a:ext cx="649224" cy="73152"/>
          </a:xfrm>
          <a:prstGeom prst="rect">
            <a:avLst/>
          </a:prstGeom>
          <a:solidFill>
            <a:srgbClr val="7FA8C9">
              <a:alpha val="40000"/>
            </a:srgbClr>
          </a:solidFill>
          <a:ln w="12700">
            <a:solidFill>
              <a:srgbClr val="7FA8C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7525512" y="27340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25512" y="29718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0080" y="3177892"/>
            <a:ext cx="201168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891540" y="31413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low risk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190902" y="3198993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0" name="Text 48"/>
          <p:cNvSpPr/>
          <p:nvPr/>
        </p:nvSpPr>
        <p:spPr>
          <a:xfrm>
            <a:off x="3461358" y="3187739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— moderate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754039" y="3177892"/>
            <a:ext cx="201168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2" name="Text 50"/>
          <p:cNvSpPr/>
          <p:nvPr/>
        </p:nvSpPr>
        <p:spPr>
          <a:xfrm>
            <a:off x="6007608" y="3136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— high risk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3429000"/>
            <a:ext cx="8412480" cy="132588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4" name="Text 52"/>
          <p:cNvSpPr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Fill Logic Works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48640" y="38221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metric has domain-specific normalization: </a:t>
            </a:r>
            <a:r>
              <a:rPr lang="en-US" sz="10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fills to max 120 · BMI normalizes to 50 · Stress uses 1-10 scale directly · Sleep INVERTS (less sleep = higher fill = more risk) · Daily Steps inversely maps to 10,000 target · Binary conditions (Yes=90%/danger, No=10%/good) · Coverage also inverts (less coverage = higher fill).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763524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pipeline from raw CSV to real-time prediction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280160" cy="14630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627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records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features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54480" y="1828800"/>
            <a:ext cx="18288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1581912" y="17190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37360" y="1097280"/>
            <a:ext cx="1280160" cy="14630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1828800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🧹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83080" y="1627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20116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fill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coerce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017520" y="1828800"/>
            <a:ext cx="18288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044952" y="17190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1097280"/>
            <a:ext cx="1280160" cy="14630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3291840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🔢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46120" y="1627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20116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80560" y="1828800"/>
            <a:ext cx="18288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507992" y="17190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097280"/>
            <a:ext cx="1280160" cy="14630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754880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🌲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709160" y="1627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20116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split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43600" y="1828800"/>
            <a:ext cx="18288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5971032" y="17190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26480" y="1097280"/>
            <a:ext cx="1280160" cy="14630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6217920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172200" y="1627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20116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serialize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load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406640" y="1828800"/>
            <a:ext cx="18288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7434072" y="17190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89520" y="1097280"/>
            <a:ext cx="1280160" cy="14630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7680960" y="11704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635240" y="16276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635240" y="20116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0.85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" y="2834640"/>
            <a:ext cx="4114800" cy="19202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54864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Configuration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n_estimators = 100, random_state = 42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Train/Test split: 80% / 20%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378561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Evaluation: RMSE + R² on held-out set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4059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Target: annual_medical_cost (USD)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4334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Serialized with joblib to .pkl for persistence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2834640"/>
            <a:ext cx="4114800" cy="19202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4846320" y="2926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Demographics: age, gender, city_type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846320" y="35295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Health: BMI, smoker, diabetes, hypertension,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heart_disease, asthma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46320" y="3822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Lifestyle: activity, steps, sleep, stress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846320" y="41148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Utilization: visits, admissions, medications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46320" y="4407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Insurance: type, coverage %, previous cost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5925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Report History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patient sessions with persistent prediction history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28346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UserManager — Key Operations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36576" cy="38404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signup()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709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 ID + name + SHA-256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 saved to users.json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36576" cy="38404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21792" y="20299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login()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2585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input password, compare to stored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hash. Return patient name on success.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560320"/>
            <a:ext cx="36576" cy="38404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21792" y="25786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save_report()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2807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timestamped prediction 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(inputs + cost + suggestions) to patient.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108960"/>
            <a:ext cx="36576" cy="38404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21792" y="31272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get_reports()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3355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full report history list for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in the sidebar.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4114800" cy="822960"/>
          </a:xfrm>
          <a:prstGeom prst="rect">
            <a:avLst/>
          </a:prstGeom>
          <a:solidFill>
            <a:srgbClr val="122440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50292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A8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users.json structure: { patient_id: { password: sha256, name, reports: [ {timestamp, data: {inputs, prediction, suggestions}} ] } }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114800" cy="37490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846320" y="1097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History — Sidebar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463040"/>
            <a:ext cx="3931920" cy="868680"/>
          </a:xfrm>
          <a:prstGeom prst="rect">
            <a:avLst/>
          </a:prstGeom>
          <a:solidFill>
            <a:srgbClr val="122440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892040" y="1527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3 — May 02,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1783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Cost: $11,230.00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011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[View Full Report Details]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468880"/>
            <a:ext cx="3931920" cy="868680"/>
          </a:xfrm>
          <a:prstGeom prst="rect">
            <a:avLst/>
          </a:prstGeom>
          <a:solidFill>
            <a:srgbClr val="122440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892040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2 — Apr 28,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2788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Cost: $9,870.00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017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[View Full Report Details]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3931920" cy="868680"/>
          </a:xfrm>
          <a:prstGeom prst="rect">
            <a:avLst/>
          </a:prstGeom>
          <a:solidFill>
            <a:srgbClr val="122440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892040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1 — Apr 15,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794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Cost: $14,560.00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40233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[View Full Report Details]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4526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persist until explicit logout via the sidebar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7239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dependencies, and project contributors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749808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20240" cy="749808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260604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1389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1.32.0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749808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75488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57800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57800" y="1389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1.3.0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1920240" cy="749808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903720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🐼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06640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13898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920240"/>
            <a:ext cx="1920240" cy="749808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5720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💾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304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514600" y="1920240"/>
            <a:ext cx="1920240" cy="749808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260604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10896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hashlib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08960" y="2304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auth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920240"/>
            <a:ext cx="1920240" cy="749808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47548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5780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57800" y="2304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export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12280" y="1920240"/>
            <a:ext cx="1920240" cy="749808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90372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40664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2304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store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2926080"/>
            <a:ext cx="2743200" cy="178308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365760" y="2926080"/>
            <a:ext cx="2743200" cy="320040"/>
          </a:xfrm>
          <a:prstGeom prst="rect">
            <a:avLst/>
          </a:prstGeom>
          <a:solidFill>
            <a:srgbClr val="00AACC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457200" y="2953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Qasim Ashfaq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3273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SU92-BSAIM-S25-030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3520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ML Developer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OOP design · Streamlit UI · Liquid glass CSS · UserManager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91840" y="2926080"/>
            <a:ext cx="2743200" cy="178308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4" name="Shape 42"/>
          <p:cNvSpPr/>
          <p:nvPr/>
        </p:nvSpPr>
        <p:spPr>
          <a:xfrm>
            <a:off x="3291840" y="2926080"/>
            <a:ext cx="2743200" cy="320040"/>
          </a:xfrm>
          <a:prstGeom prst="rect">
            <a:avLst/>
          </a:prstGeom>
          <a:solidFill>
            <a:srgbClr val="00AACC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3383280" y="2953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Javed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383280" y="3273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SU92-BSAIM-S25-020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383280" y="3520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8328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DataCleaner · DataPreprocessor · EDA · Encoding pipeline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17920" y="2926080"/>
            <a:ext cx="2743200" cy="178308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0" name="Shape 48"/>
          <p:cNvSpPr/>
          <p:nvPr/>
        </p:nvSpPr>
        <p:spPr>
          <a:xfrm>
            <a:off x="6217920" y="2926080"/>
            <a:ext cx="2743200" cy="320040"/>
          </a:xfrm>
          <a:prstGeom prst="rect">
            <a:avLst/>
          </a:prstGeom>
          <a:solidFill>
            <a:srgbClr val="00AACC">
              <a:alpha val="4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6309360" y="2953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Kaleem-Ullah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309360" y="32735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SU92-BSDSM-S25-013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309360" y="3520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09360" y="37947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RandomForestModel · Training · Evaluation · Report generation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Risk Assessment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09728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74599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and mitigation strategies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920240" cy="9144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0.85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389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test set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20240" cy="9144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260604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5468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1389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latency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1920240" cy="9144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475488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0352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389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1005840"/>
            <a:ext cx="1920240" cy="91440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9037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52360" y="10972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UI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52360" y="13898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design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8412480" cy="26060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48640" y="2194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560320"/>
            <a:ext cx="2011680" cy="292608"/>
          </a:xfrm>
          <a:prstGeom prst="rect">
            <a:avLst/>
          </a:prstGeom>
          <a:solidFill>
            <a:srgbClr val="122440"/>
          </a:solidFill>
          <a:ln w="3810">
            <a:solidFill>
              <a:srgbClr val="33333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566928" y="2578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shift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578608"/>
            <a:ext cx="685800" cy="237744"/>
          </a:xfrm>
          <a:prstGeom prst="rect">
            <a:avLst/>
          </a:prstGeom>
          <a:solidFill>
            <a:srgbClr val="F39C12">
              <a:alpha val="40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2606040" y="257860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83280" y="257860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periodically with updated data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2944368"/>
            <a:ext cx="2011680" cy="292608"/>
          </a:xfrm>
          <a:prstGeom prst="rect">
            <a:avLst/>
          </a:prstGeom>
          <a:solidFill>
            <a:srgbClr val="122440"/>
          </a:solidFill>
          <a:ln w="3810">
            <a:solidFill>
              <a:srgbClr val="33333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566928" y="29626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606040" y="2962656"/>
            <a:ext cx="685800" cy="237744"/>
          </a:xfrm>
          <a:prstGeom prst="rect">
            <a:avLst/>
          </a:prstGeom>
          <a:solidFill>
            <a:srgbClr val="27AE60">
              <a:alpha val="4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2606040" y="2962656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83280" y="296265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 + RMSE / R² monitoring on holdout set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3328416"/>
            <a:ext cx="2011680" cy="292608"/>
          </a:xfrm>
          <a:prstGeom prst="rect">
            <a:avLst/>
          </a:prstGeom>
          <a:solidFill>
            <a:srgbClr val="122440"/>
          </a:solidFill>
          <a:ln w="3810">
            <a:solidFill>
              <a:srgbClr val="33333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566928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606040" y="3346704"/>
            <a:ext cx="685800" cy="237744"/>
          </a:xfrm>
          <a:prstGeom prst="rect">
            <a:avLst/>
          </a:prstGeom>
          <a:solidFill>
            <a:srgbClr val="F39C12">
              <a:alpha val="40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2606040" y="334670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83280" y="3346704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number_input bounds + selectbox validation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3712464"/>
            <a:ext cx="2011680" cy="292608"/>
          </a:xfrm>
          <a:prstGeom prst="rect">
            <a:avLst/>
          </a:prstGeom>
          <a:solidFill>
            <a:srgbClr val="122440"/>
          </a:solidFill>
          <a:ln w="3810">
            <a:solidFill>
              <a:srgbClr val="33333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566928" y="3730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browser compat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06040" y="3730752"/>
            <a:ext cx="685800" cy="237744"/>
          </a:xfrm>
          <a:prstGeom prst="rect">
            <a:avLst/>
          </a:prstGeom>
          <a:solidFill>
            <a:srgbClr val="F39C12">
              <a:alpha val="40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2606040" y="37307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83280" y="37307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fallback if backdrop-filter unsupported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02920" y="4096512"/>
            <a:ext cx="2011680" cy="292608"/>
          </a:xfrm>
          <a:prstGeom prst="rect">
            <a:avLst/>
          </a:prstGeom>
          <a:solidFill>
            <a:srgbClr val="122440"/>
          </a:solidFill>
          <a:ln w="3810">
            <a:solidFill>
              <a:srgbClr val="33333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566928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data loss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606040" y="4114800"/>
            <a:ext cx="685800" cy="237744"/>
          </a:xfrm>
          <a:prstGeom prst="rect">
            <a:avLst/>
          </a:prstGeom>
          <a:solidFill>
            <a:srgbClr val="27AE60">
              <a:alpha val="40000"/>
            </a:srgbClr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2606040" y="411480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383280" y="41148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local file, trivial to back up or migrate to SQLite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-457200" y="2743200"/>
            <a:ext cx="2743200" cy="2743200"/>
          </a:xfrm>
          <a:prstGeom prst="ellipse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</a:rPr>
              <a:t>Interactive and User-Friendly System </a:t>
            </a:r>
            <a:r>
              <a:rPr lang="en-US" sz="1300" dirty="0">
                <a:solidFill>
                  <a:schemeClr val="bg1"/>
                </a:solidFill>
                <a:sym typeface="Wingdings" panose="05000000000000000000" pitchFamily="2" charset="2"/>
              </a:rPr>
              <a:t> Delivered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Insurance Advisor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production-quality OOP ML application with a distinctive liquid glass visual identity.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029200" cy="19202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8" name="Shape 6"/>
          <p:cNvSpPr/>
          <p:nvPr/>
        </p:nvSpPr>
        <p:spPr>
          <a:xfrm>
            <a:off x="594360" y="2468880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822960" y="24505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patient sessions with persistent report history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798064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27797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liquid glass frosted UI with animated health metric tubes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127248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822960" y="3108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 OOP ML pipeline  (CSV to prediction in one launch)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456432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22960" y="34381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HTML report export with print stylesheet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785616"/>
            <a:ext cx="164592" cy="16459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22960" y="37673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4-module codebase with ABCs, factory functions, encapsulation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331720"/>
            <a:ext cx="3108960" cy="1920240"/>
          </a:xfrm>
          <a:prstGeom prst="rect">
            <a:avLst/>
          </a:prstGeom>
          <a:solidFill>
            <a:srgbClr val="0D213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852160" y="2423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Cloud deployment (Streamlit Cloud)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52160" y="30358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SQLite / PostgreSQL migration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52160" y="33284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Multi-model ensemble comparison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52160" y="36210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SHAP explainability dashboard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52160" y="3913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Mobile responsive layout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1261</Words>
  <Application>Microsoft Office PowerPoint</Application>
  <PresentationFormat>On-screen Show (16:9)</PresentationFormat>
  <Paragraphs>299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Segoe UI Emoji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Health Insurance Advisor</dc:title>
  <dc:subject>PptxGenJS Presentation</dc:subject>
  <dc:creator>Muhammad Qasim Ashfaq;Abdullah Javed;Kaleem-Ullah</dc:creator>
  <cp:lastModifiedBy>Qasim Ashfaq</cp:lastModifiedBy>
  <cp:revision>12</cp:revision>
  <dcterms:created xsi:type="dcterms:W3CDTF">2026-05-03T17:09:48Z</dcterms:created>
  <dcterms:modified xsi:type="dcterms:W3CDTF">2026-05-03T17:57:43Z</dcterms:modified>
</cp:coreProperties>
</file>